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USE CASE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Calibri"/>
              </a:rPr>
              <a:t>Right Model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  <a:latin typeface="Calibri"/>
              </a:rPr>
              <a:t>SLM + Frontier Architecture Patterns for Digital Workplace Device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2D3EE"/>
                </a:solidFill>
                <a:latin typeface="Calibri"/>
              </a:rPr>
              <a:t>Principle: Use the right model for the right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Five locked architecture patterns  ·  One scenario each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Measurable tokens · latency · confidence · illustrative cost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UI: Overview  ·  AI Model Operations  ·  Model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Catalogue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Single deck for the complete use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276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Business problem &amp; principle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04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Solution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82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182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SLM vs Frontier roles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59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9593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Five patterns at a glance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36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05–09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Pattern catalogue (detail)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46304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6276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627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Data, models &amp; observability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24028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4048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4048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UI catalogue — three dropdown pages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01752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182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1821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Primary metrics &amp; provenance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79476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959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39593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Demo path &amp; proof 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572000"/>
            <a:ext cx="5303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736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How to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01  · 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Digital workplace monitoring workloads are mixed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Routine high-volume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Health / status checks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Known SOP remediation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Crash counts &amp; simple classification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Risk if sent to Frontier: wasted capacity &amp;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9496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4389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Hard reasoning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Multi-domain RCA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Ambiguous Teams + VPN symptoms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Planning and final synthesis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Risk if sent only to SLM: quality collapse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01  ·  Principle &amp;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Hybrid collaboration — not SLM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2D3EE"/>
                </a:solidFill>
                <a:latin typeface="Calibri"/>
              </a:rPr>
              <a:t>Use the right model for the right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Reserve Frontier for planning, ambiguity resolution, and synthesis.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Use SLMs for routine, repetitive, high-volume steps.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Measure success as Frontier tokens avoided — with quality still visible.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Never present ESTIMATED baselines as actual spend.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Calibri"/>
              </a:rPr>
              <a:t>One locked scenario per pattern keeps the demo explainable.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02  ·  Solution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Layers in the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371600"/>
            <a:ext cx="98755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9728" cy="10058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Streamlit — Right Model Lab
Overview · AI Model Operations · Model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514600"/>
            <a:ext cx="98755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514600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ScenarioService · FastAPI
Run one / run all · ResultStore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657600"/>
            <a:ext cx="98755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657600"/>
            <a:ext cx="109728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794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947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Planner-Worker · Router · Cascade · RAG · Fallback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800600"/>
            <a:ext cx="987552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4800600"/>
            <a:ext cx="10972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Models + 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9377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Calibri"/>
              </a:rPr>
              <a:t>LanguageModel interface · Demo / Ollama / Azure
TraceStore · LangSmith · BaselineEstimator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03  ·  SLM vs Frontier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Executive model 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3949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SLM — Service Desk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Fast and lower cost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Strong on known / repetitive work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Classification, extraction, telemetry interpretation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Routine summaries and grounded SOP answers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Providers in lab: Demo or Ollama-compatible local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9496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81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Frontier — Senior Solution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Stronger reasoning and planning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Better at ambiguity and cross-domain synthesis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More expensive / often slower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Best reserved for high-value segments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Providers in lab: Demo or Azure OpenAI-compatible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04  ·  Five Patterns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One locked scenario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Locked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371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4A3B8"/>
                </a:solidFill>
                <a:latin typeface="Calibri"/>
              </a:rPr>
              <a:t>Primary benefit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11064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9144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29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Planner-Worker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029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LAPTOP-1204 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0299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B981"/>
                </a:solidFill>
                <a:latin typeface="Calibri"/>
              </a:rPr>
              <a:t>Selective reasoning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51760"/>
            <a:ext cx="11064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51760"/>
            <a:ext cx="91440" cy="7315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529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52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100 health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529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B981"/>
                </a:solidFill>
                <a:latin typeface="Calibri"/>
              </a:rPr>
              <a:t>High-volume efficiency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11064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9144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67588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Confidence Cascade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67588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LAPTOP-9910 Teams/VPN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67588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B981"/>
                </a:solidFill>
                <a:latin typeface="Calibri"/>
              </a:rPr>
              <a:t>Quality-aware escalation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97680"/>
            <a:ext cx="11064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97680"/>
            <a:ext cx="9144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9884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RAG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498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LAPTOP-1507 disk/OneDrive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498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B981"/>
                </a:solidFill>
                <a:latin typeface="Calibri"/>
              </a:rPr>
              <a:t>Grounded smaller model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20640"/>
            <a:ext cx="11064240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20640"/>
            <a:ext cx="9144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21807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32180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Frontier unavailable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321807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B981"/>
                </a:solidFill>
                <a:latin typeface="Calibri"/>
              </a:rPr>
              <a:t>Resilience / availability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05  ·  Planner-Worker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Selective reasoning + orchestration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132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What this pattern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Device: LAPTOP-1204 — multi-domain RCA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Flow: Frontier Plan → SLM Workers → Frontier Synthesis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SLM workers: CPU · Teams · Network/VPN · Compliance · History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Frontier only where orchestration and judgment matter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Proof: Frontier tokens avoided vs ESTIMATED all-Frontier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Architecture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Incident → FRONTIER Planner → SLM Workers → FRONTIER RCA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06  ·  Router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High-volume inference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132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What this pattern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Volume: 100 seeded endpoint health requests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NON-LLM router classifies routine vs complex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Demo mix: ~85% SLM · ~15% Frontier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Routine: status / counts / simple classification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Complex: cross-domain RCA · ambiguous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Architecture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Request → NON-LLM Router → SLM (routine) | FRONTIER (complex)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07  ·  Confidence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Quality-aware escalation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132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What this pattern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Device: LAPTOP-9910 — ambiguous Teams + VPN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SLM first-pass diagnosis → confidence gate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Threshold: CONFIDENCE_THRESHOLD = 0.85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Demo path: SLM ~0.54 → escalate to Frontier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Honest note: one escalated case can cost more than direct Frontier; fleet economics still win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Architecture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Incident → SLM → Gate → Accept | FRONTIER escalate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08  · 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Grounded enterprise knowledge with a smaller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132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What this pattern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Device: LAPTOP-1507 — disk + OneDrive SOP remediation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NON-LLM retrieve / rank / context from Markdown SOP KB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SLM grounded generation with citations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Frontier not required for this scenario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Proof: grounding + RAG+SLM vs ESTIMATED RAG+Frontier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Architecture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Ticket → Retrieve SOP → Rank → SLM grounded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09  ·  Designing for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Resilience and availability — not token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71323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What this pattern demonstrates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6858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Device: LAPTOP-1204 during Frontier unavailability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Failure modes: 503 · timeout · rate limit · auth · offline · cost guard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Flow: Frontier attempt → failure detector → SLM fallback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Degraded quality (~0.72 confidence in demo) with continuity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Proof: operations continue when Frontier is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Architecture 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10312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Calibri"/>
              </a:rPr>
              <a:t>Incident → FRONTIER → Fail → SLM fallback → 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10  ·  Data, Models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What the lab is built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Synthetic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100-device fleet (seeded)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Incidents + DEX / risk scores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Locked devices: 1204 · 9910 · 1507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Markdown SOP knowledge base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TF-IDF VectorStore for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Model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10512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Shared LanguageModel interface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Demo clients (default)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Ollama-compatible local SLM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Azure OpenAI-compatible Frontier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Patterns never import SDKs directly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TokenMetrics on every segment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Local TraceStore always 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Optional LangSmith remote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BaselineEstimator (ESTIMATED)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Illustrative cost calculator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11  ·  UI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Three dropdown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10512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Mode · models · fleet strip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KPI row &amp; Run all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Five pattern tiles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Open → architecture diagram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Scenario → Flow → Why → Tokens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Trace · Tail · Architect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73152" cy="4572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AI Model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810512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MLOps control tower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17 KPIs incl. avoidance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12 interactive charts + radar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Selected vs all-Frontier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Avoidance rate · cost vs quality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Pattern efficiency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6576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73152" cy="4572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8132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Model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810512"/>
            <a:ext cx="3383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Segment-level decision audit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Selected vs ESTIMATED alternative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Tokens · latency · confidence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Decision + Why columns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Per-pattern avoidance callout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Defends each model choice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12  ·  Primary Metrics &amp;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How claims stay honest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8640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Frontier tokens avoided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Hybrid vs ESTIMATED all-Frontier baseline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Also track: Frontier calls avoided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Supporting: latency · confidence · illustrative cost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Fewer total tokens ≠ automatically better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0352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73152" cy="4572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81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Provenance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10512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ACTUAL — provider-reported usage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SIMULATED — Demo Mode telemetry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ESTIMATED — baselines / alternatives only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Never present ESTIMATED as money spent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E2E8F0"/>
                </a:solidFill>
                <a:latin typeface="Calibri"/>
              </a:rPr>
              <a:t>Baseline does not call Frontier just for the chart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13  ·  Demo Path &amp; Proof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Recommended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371600"/>
            <a:ext cx="9875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53619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Overview — status, KPIs, name five tiles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148840"/>
            <a:ext cx="9875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231343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Open Planner-Worker — architecture, Load result, Architect Decision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2926080"/>
            <a:ext cx="9875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7360" y="309067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Optional: Cascade (quality) or Fallback (resilience)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70332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94759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Calibri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3703320"/>
            <a:ext cx="9875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37360" y="3867911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AI Model Operations — charts 2, 9, 11 + efficiency table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7200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Calibri"/>
              </a:rP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63040" y="4480560"/>
            <a:ext cx="9875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464515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Model Comparison — one SLM win row + one Frontier win row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1220"/>
                </a:solidFill>
                <a:latin typeface="Calibri"/>
              </a:rPr>
              <a:t>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5257800"/>
            <a:ext cx="987552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5422392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Close on principle + Frontier tokens avoided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8FAFC"/>
                </a:solidFill>
                <a:latin typeface="Calibri"/>
              </a:rPr>
              <a:t>14  ·  How to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</a:rPr>
              <a:t>Demo Mode by default — Live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Right Model Lab  ·  SLM + Frontier Device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python3 -m venv .venv &amp;&amp; source .venv/bin/activate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pip install -r requirements.txt &amp;&amp; cp .env.example .env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streamlit run app/ui/dashboard.py   →  http://localhost:8501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Optional API: uvicorn app.main:app --reload --port 8000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DEMO_MODE=true for offline deterministic demos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Live: Ollama SLM + Azure OpenAI Frontier + optional LangSmith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E2E8F0"/>
                </a:solidFill>
                <a:latin typeface="Calibri"/>
              </a:rPr>
              <a:t>Docs: README.md · docs/copy-paste-script.md · docs/use-case-demonstration.md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Catalogue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Right Model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2D3EE"/>
                </a:solidFill>
                <a:latin typeface="Calibri"/>
              </a:rPr>
              <a:t>Right model  ·  Right task  ·  Measurable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Five patterns · three UI pages · honest provenance · Frontier tokens avoided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Calibri"/>
              </a:rPr>
              <a:t>Built for digital workplace device monitoring architecture demos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